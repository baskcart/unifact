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nifact-logo-locked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77724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00200" y="640080"/>
            <a:ext cx="91440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200" b="1">
                <a:solidFill>
                  <a:srgbClr val="F5F5F7"/>
                </a:solidFill>
                <a:latin typeface="Calibri"/>
              </a:rPr>
              <a:t>UniFact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8229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5400" b="1">
                <a:solidFill>
                  <a:srgbClr val="F5F5F7"/>
                </a:solidFill>
                <a:latin typeface="Calibri"/>
              </a:rPr>
              <a:t>UniFact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9728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800" b="0">
                <a:solidFill>
                  <a:srgbClr val="10B981"/>
                </a:solidFill>
                <a:latin typeface="Calibri"/>
              </a:rPr>
              <a:t>One Fact. One Truth.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000" b="0">
                <a:solidFill>
                  <a:srgbClr val="A8ADBA"/>
                </a:solidFill>
                <a:latin typeface="Calibri"/>
              </a:rPr>
              <a:t>Organizational truth for AI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097280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800" b="0">
                <a:solidFill>
                  <a:srgbClr val="8B5CF6"/>
                </a:solidFill>
                <a:latin typeface="Calibri"/>
              </a:rPr>
              <a:t>https://unifact.ai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66344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800600"/>
            <a:ext cx="640080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F5F5F7"/>
                </a:solidFill>
                <a:latin typeface="Calibri"/>
              </a:rPr>
              <a:t>NJ AI Hub Accelerator  ·  Batch 2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66360"/>
            <a:ext cx="640080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A8ADBA"/>
                </a:solidFill>
                <a:latin typeface="Calibri"/>
              </a:rPr>
              <a:t>MVP live  ·  Product (SaaS)  ·  West Windsor–accessible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0">
                <a:solidFill>
                  <a:srgbClr val="A8ADBA"/>
                </a:solidFill>
                <a:latin typeface="Calibri"/>
              </a:rPr>
              <a:t>unifact.ai  ·  New Jersey AI ecosystem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3200" b="1">
                <a:solidFill>
                  <a:srgbClr val="F5F5F7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0">
                <a:solidFill>
                  <a:srgbClr val="A8ADBA"/>
                </a:solidFill>
                <a:latin typeface="Calibri"/>
              </a:rPr>
              <a:t>Agents are shipping. Organizational truth is not.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0">
                <a:solidFill>
                  <a:srgbClr val="F5F5F7"/>
                </a:solidFill>
                <a:latin typeface="Calibri"/>
              </a:rPr>
              <a:t>• Companies now run coding agents, ops assistants, and customer chatbots side by side.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0">
                <a:solidFill>
                  <a:srgbClr val="F5F5F7"/>
                </a:solidFill>
                <a:latin typeface="Calibri"/>
              </a:rPr>
              <a:t>• Each is fed from different sources: READMEs, wikis, Slack, outdated PDFs, tribal knowledge.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0">
                <a:solidFill>
                  <a:srgbClr val="F5F5F7"/>
                </a:solidFill>
                <a:latin typeface="Calibri"/>
              </a:rPr>
              <a:t>• Result: conflicting answers, repeated corrections, and actions on stale or unauthorized “facts.”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572000"/>
            <a:ext cx="10881360" cy="1234440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332720" cy="8229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AI fails organizations not only because models are wrong — because the organization has no single, governed truth layer agents can trust.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0">
                <a:solidFill>
                  <a:srgbClr val="A8ADBA"/>
                </a:solidFill>
                <a:latin typeface="Calibri"/>
              </a:rPr>
              <a:t>UniFact · unifact.ai · NJ AI Hub Accelerator Batch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3200" b="1">
                <a:solidFill>
                  <a:srgbClr val="F5F5F7"/>
                </a:solidFill>
                <a:latin typeface="Calibri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0">
                <a:solidFill>
                  <a:srgbClr val="A8ADBA"/>
                </a:solidFill>
                <a:latin typeface="Calibri"/>
              </a:rPr>
              <a:t>Work agents entered the mainstream.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0">
                <a:solidFill>
                  <a:srgbClr val="F5F5F7"/>
                </a:solidFill>
                <a:latin typeface="Calibri"/>
              </a:rPr>
              <a:t>• Teams already use Cursor, Claude, Codex, and similar shells in daily shipping work.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0">
                <a:solidFill>
                  <a:srgbClr val="F5F5F7"/>
                </a:solidFill>
                <a:latin typeface="Calibri"/>
              </a:rPr>
              <a:t>• Those agents lack a shared, reviewable registry of what the company has decided is true — brand, policy, infra, product rules, customer commitments.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0">
                <a:solidFill>
                  <a:srgbClr val="F5F5F7"/>
                </a:solidFill>
                <a:latin typeface="Calibri"/>
              </a:rPr>
              <a:t>• Vector RAG and prompt stuffing retrieve text. They do not give propose → review → publish → pull with audit history.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0">
                <a:solidFill>
                  <a:srgbClr val="F5F5F7"/>
                </a:solidFill>
                <a:latin typeface="Calibri"/>
              </a:rPr>
              <a:t>• Window: own the “org truth” layer before every vendor bolts a private memory silo onto their agent.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0">
                <a:solidFill>
                  <a:srgbClr val="A8ADBA"/>
                </a:solidFill>
                <a:latin typeface="Calibri"/>
              </a:rPr>
              <a:t>UniFact · unifact.ai · NJ AI Hub Accelerator Batch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3200" b="1">
                <a:solidFill>
                  <a:srgbClr val="F5F5F7"/>
                </a:solidFill>
                <a:latin typeface="Calibr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0">
                <a:solidFill>
                  <a:srgbClr val="A8ADBA"/>
                </a:solidFill>
                <a:latin typeface="Calibri"/>
              </a:rPr>
              <a:t>UniFact is the organizational fact registry.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0">
                <a:solidFill>
                  <a:srgbClr val="A8ADBA"/>
                </a:solidFill>
                <a:latin typeface="Calibri"/>
              </a:rPr>
              <a:t>One place for authoritative Uni Facts — with a lifecycle agents understand: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219456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800" b="1">
                <a:solidFill>
                  <a:srgbClr val="10B981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219456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000" b="1">
                <a:solidFill>
                  <a:srgbClr val="F5F5F7"/>
                </a:solidFill>
                <a:latin typeface="Calibri"/>
              </a:rPr>
              <a:t>Propose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2194560" cy="7315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A8ADBA"/>
                </a:solidFill>
                <a:latin typeface="Calibri"/>
              </a:rPr>
              <a:t>Builders and agents suggest facts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28600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468880"/>
            <a:ext cx="219456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800" b="1">
                <a:solidFill>
                  <a:srgbClr val="10B981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017520"/>
            <a:ext cx="219456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000" b="1">
                <a:solidFill>
                  <a:srgbClr val="F5F5F7"/>
                </a:solidFill>
                <a:latin typeface="Calibri"/>
              </a:rPr>
              <a:t>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474720"/>
            <a:ext cx="2194560" cy="7315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A8ADBA"/>
                </a:solidFill>
                <a:latin typeface="Calibri"/>
              </a:rPr>
              <a:t>Curators approve or reject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28600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468880"/>
            <a:ext cx="219456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800" b="1">
                <a:solidFill>
                  <a:srgbClr val="10B981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017520"/>
            <a:ext cx="219456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000" b="1">
                <a:solidFill>
                  <a:srgbClr val="F5F5F7"/>
                </a:solidFill>
                <a:latin typeface="Calibri"/>
              </a:rPr>
              <a:t>Publish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474720"/>
            <a:ext cx="2194560" cy="7315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A8ADBA"/>
                </a:solidFill>
                <a:latin typeface="Calibri"/>
              </a:rPr>
              <a:t>Production truth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228600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2468880"/>
            <a:ext cx="219456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800" b="1">
                <a:solidFill>
                  <a:srgbClr val="10B981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017520"/>
            <a:ext cx="219456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000" b="1">
                <a:solidFill>
                  <a:srgbClr val="F5F5F7"/>
                </a:solidFill>
                <a:latin typeface="Calibri"/>
              </a:rPr>
              <a:t>Pull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474720"/>
            <a:ext cx="2194560" cy="7315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A8ADBA"/>
                </a:solidFill>
                <a:latin typeface="Calibri"/>
              </a:rPr>
              <a:t>Agents Fact Check before they 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846320"/>
            <a:ext cx="10972800" cy="8229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0">
                <a:solidFill>
                  <a:srgbClr val="F5F5F7"/>
                </a:solidFill>
                <a:latin typeface="Calibri"/>
              </a:rPr>
              <a:t>Not a data warehouse. Not another wiki.
The governance layer between humans, documents, and agents.  ·  One Fact. One Truth.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0">
                <a:solidFill>
                  <a:srgbClr val="A8ADBA"/>
                </a:solidFill>
                <a:latin typeface="Calibri"/>
              </a:rPr>
              <a:t>UniFact · unifact.ai · NJ AI Hub Accelerator Batch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3200" b="1">
                <a:solidFill>
                  <a:srgbClr val="F5F5F7"/>
                </a:solidFill>
                <a:latin typeface="Calibri"/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0">
                <a:solidFill>
                  <a:srgbClr val="A8ADBA"/>
                </a:solidFill>
                <a:latin typeface="Calibri"/>
              </a:rPr>
              <a:t>What buyers 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8"/>
            <a:ext cx="292608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Fact registry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920240"/>
            <a:ext cx="731520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5F7"/>
                </a:solidFill>
                <a:latin typeface="Calibri"/>
              </a:rPr>
              <a:t>Namespaced Uni Facts with versioning, supersede, retract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32888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42616"/>
            <a:ext cx="292608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Work-agent 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670048"/>
            <a:ext cx="731520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5F7"/>
                </a:solidFill>
                <a:latin typeface="Calibri"/>
              </a:rPr>
              <a:t>Fact Check in Cursor / Claude / Codex-class 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82696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92424"/>
            <a:ext cx="292608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Publish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419856"/>
            <a:ext cx="731520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5F7"/>
                </a:solidFill>
                <a:latin typeface="Calibri"/>
              </a:rPr>
              <a:t>Propose → review → publish (Git-like for truth)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32504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42232"/>
            <a:ext cx="292608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Customer 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169664"/>
            <a:ext cx="731520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5F7"/>
                </a:solidFill>
                <a:latin typeface="Calibri"/>
              </a:rPr>
              <a:t>Ground chatbots in published facts (white-label; default: Uni)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892040"/>
            <a:ext cx="292608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Sync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919472"/>
            <a:ext cx="731520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5F7"/>
                </a:solidFill>
                <a:latin typeface="Calibri"/>
              </a:rPr>
              <a:t>Local working store + cloud origin registry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1097280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A8ADBA"/>
                </a:solidFill>
                <a:latin typeface="Calibri"/>
              </a:rPr>
              <a:t>Live: https://unifact.ai  ·  Self-serve: GitHub OAuth to create an org registry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0">
                <a:solidFill>
                  <a:srgbClr val="A8ADBA"/>
                </a:solidFill>
                <a:latin typeface="Calibri"/>
              </a:rPr>
              <a:t>UniFact · unifact.ai · NJ AI Hub Accelerator Batch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3200" b="1">
                <a:solidFill>
                  <a:srgbClr val="F5F5F7"/>
                </a:solidFill>
                <a:latin typeface="Calibri"/>
              </a:rPr>
              <a:t>Demo / 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0">
                <a:solidFill>
                  <a:srgbClr val="A8ADBA"/>
                </a:solidFill>
                <a:latin typeface="Calibri"/>
              </a:rPr>
              <a:t>Proof today (MVP)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520440" cy="2926080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301752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Live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3017520" cy="1645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5F7"/>
                </a:solidFill>
                <a:latin typeface="Calibri"/>
              </a:rPr>
              <a:t>unifact.ai is up — registry, MCP, publish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20240"/>
            <a:ext cx="3520440" cy="2926080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01752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Dogfooding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834640"/>
            <a:ext cx="3017520" cy="1645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5F7"/>
                </a:solidFill>
                <a:latin typeface="Calibri"/>
              </a:rPr>
              <a:t>UniFact org runs on UniFact; agents Fact Check before org-dependent 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920240"/>
            <a:ext cx="3520440" cy="2926080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194560"/>
            <a:ext cx="301752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Ready for pilots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834640"/>
            <a:ext cx="3017520" cy="1645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5F7"/>
                </a:solidFill>
                <a:latin typeface="Calibri"/>
              </a:rPr>
              <a:t>Seeking design partners &amp; enterprise pilots — why the Hub fits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A8ADBA"/>
                </a:solidFill>
                <a:latin typeface="Calibri"/>
              </a:rPr>
              <a:t>Optional: attach a 20–30s Fact Check → publish → agent behavior clip.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0">
                <a:solidFill>
                  <a:srgbClr val="A8ADBA"/>
                </a:solidFill>
                <a:latin typeface="Calibri"/>
              </a:rPr>
              <a:t>UniFact · unifact.ai · NJ AI Hub Accelerator Batch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3200" b="1">
                <a:solidFill>
                  <a:srgbClr val="F5F5F7"/>
                </a:solidFill>
                <a:latin typeface="Calibri"/>
              </a:rPr>
              <a:t>Market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0">
                <a:solidFill>
                  <a:srgbClr val="A8ADBA"/>
                </a:solidFill>
                <a:latin typeface="Calibri"/>
              </a:rPr>
              <a:t>Aligned to Hub / Plug and Play focus areas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1042416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700" b="1">
                <a:solidFill>
                  <a:srgbClr val="10B981"/>
                </a:solidFill>
                <a:latin typeface="Calibri"/>
              </a:rPr>
              <a:t>Future of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1042416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5F7"/>
                </a:solidFill>
                <a:latin typeface="Calibri"/>
              </a:rPr>
              <a:t>Shared truth for employee/work agents so AI labor is reliable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26080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90672"/>
            <a:ext cx="1042416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700" b="1">
                <a:solidFill>
                  <a:srgbClr val="10B981"/>
                </a:solidFill>
                <a:latin typeface="Calibri"/>
              </a:rPr>
              <a:t>Big Data +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29000"/>
            <a:ext cx="1042416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5F7"/>
                </a:solidFill>
                <a:latin typeface="Calibri"/>
              </a:rPr>
              <a:t>Trusted context layer for agentic systems — authority, not bulk storage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23360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187952"/>
            <a:ext cx="1042416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700" b="1">
                <a:solidFill>
                  <a:srgbClr val="10B981"/>
                </a:solidFill>
                <a:latin typeface="Calibri"/>
              </a:rPr>
              <a:t>Customer Engagement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526280"/>
            <a:ext cx="1042416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5F7"/>
                </a:solidFill>
                <a:latin typeface="Calibri"/>
              </a:rPr>
              <a:t>Customer-facing agents grounded in published Uni Facts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03520"/>
            <a:ext cx="10972800" cy="6400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A8ADBA"/>
                </a:solidFill>
                <a:latin typeface="Calibri"/>
              </a:rPr>
              <a:t>NJ angle: pharma, finance, telecom, and public-sector adjacency need auditable agent context — propose/review/publish beats “stuff the prompt.”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0">
                <a:solidFill>
                  <a:srgbClr val="A8ADBA"/>
                </a:solidFill>
                <a:latin typeface="Calibri"/>
              </a:rPr>
              <a:t>UniFact · unifact.ai · NJ AI Hub Accelerator Batch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3200" b="1">
                <a:solidFill>
                  <a:srgbClr val="F5F5F7"/>
                </a:solidFill>
                <a:latin typeface="Calibri"/>
              </a:rPr>
              <a:t>Who buys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0">
                <a:solidFill>
                  <a:srgbClr val="A8ADBA"/>
                </a:solidFill>
                <a:latin typeface="Calibri"/>
              </a:rPr>
              <a:t>Primary ICP — first 12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0">
                <a:solidFill>
                  <a:srgbClr val="A8ADBA"/>
                </a:solidFill>
                <a:latin typeface="Calibri"/>
              </a:rPr>
              <a:t>Teams already deploying AI work agents who keep re-explaining brand, infra policy, product decisions, and support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60320"/>
            <a:ext cx="3520440" cy="1645920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30175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700" b="1">
                <a:solidFill>
                  <a:srgbClr val="F5F5F7"/>
                </a:solidFill>
                <a:latin typeface="Calibri"/>
              </a:rPr>
              <a:t>Founder / 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3017520" cy="6400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A8ADBA"/>
                </a:solidFill>
                <a:latin typeface="Calibri"/>
              </a:rPr>
              <a:t>AI-adopting SMB or product org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560320"/>
            <a:ext cx="3520440" cy="1645920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788920"/>
            <a:ext cx="30175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700" b="1">
                <a:solidFill>
                  <a:srgbClr val="F5F5F7"/>
                </a:solidFill>
                <a:latin typeface="Calibri"/>
              </a:rPr>
              <a:t>Platform / DevEx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246120"/>
            <a:ext cx="3017520" cy="6400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A8ADBA"/>
                </a:solidFill>
                <a:latin typeface="Calibri"/>
              </a:rPr>
              <a:t>Wiring agents into the SDLC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560320"/>
            <a:ext cx="3520440" cy="1645920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788920"/>
            <a:ext cx="30175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700" b="1">
                <a:solidFill>
                  <a:srgbClr val="F5F5F7"/>
                </a:solidFill>
                <a:latin typeface="Calibri"/>
              </a:rPr>
              <a:t>Ops / Knowledge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246120"/>
            <a:ext cx="3017520" cy="6400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A8ADBA"/>
                </a:solidFill>
                <a:latin typeface="Calibri"/>
              </a:rPr>
              <a:t>Tired of agents inventing policy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72000"/>
            <a:ext cx="10881360" cy="1097280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754880"/>
            <a:ext cx="1042416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Land → Expand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120640"/>
            <a:ext cx="1042416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F5F5F7"/>
                </a:solidFill>
                <a:latin typeface="Calibri"/>
              </a:rPr>
              <a:t>Land: one org registry + MCP in daily agent work.  Expand: more agents, namespaces, curator seats, customer-agent deployments.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0">
                <a:solidFill>
                  <a:srgbClr val="A8ADBA"/>
                </a:solidFill>
                <a:latin typeface="Calibri"/>
              </a:rPr>
              <a:t>UniFact · unifact.ai · NJ AI Hub Accelerator Batch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3200" b="1">
                <a:solidFill>
                  <a:srgbClr val="F5F5F7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0">
                <a:solidFill>
                  <a:srgbClr val="A8ADBA"/>
                </a:solidFill>
                <a:latin typeface="Calibri"/>
              </a:rPr>
              <a:t>Product company. SaaS first.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1042416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700" b="1">
                <a:solidFill>
                  <a:srgbClr val="10B981"/>
                </a:solidFill>
                <a:latin typeface="Calibri"/>
              </a:rPr>
              <a:t>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1042416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5F7"/>
                </a:solidFill>
                <a:latin typeface="Calibri"/>
              </a:rPr>
              <a:t>Org / seat / usage subscription for the registry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26080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08960"/>
            <a:ext cx="1042416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700" b="1">
                <a:solidFill>
                  <a:srgbClr val="10B981"/>
                </a:solidFill>
                <a:latin typeface="Calibri"/>
              </a:rPr>
              <a:t>Onboarding (optional)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29000"/>
            <a:ext cx="1042416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5F7"/>
                </a:solidFill>
                <a:latin typeface="Calibri"/>
              </a:rPr>
              <a:t>Fixed-scope “Agent Truth Launch” — seed Uni Facts, wire MCP, set curator workflow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23360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06240"/>
            <a:ext cx="1042416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700" b="1">
                <a:solidFill>
                  <a:srgbClr val="8B5CF6"/>
                </a:solidFill>
                <a:latin typeface="Calibri"/>
              </a:rPr>
              <a:t>Not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526280"/>
            <a:ext cx="1042416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5F7"/>
                </a:solidFill>
                <a:latin typeface="Calibri"/>
              </a:rPr>
              <a:t>Open-ended AI consulting firm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03520"/>
            <a:ext cx="1097280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A8ADBA"/>
                </a:solidFill>
                <a:latin typeface="Calibri"/>
              </a:rPr>
              <a:t>Implementation packages fund early learning and design partners. Narrative and roadmap stay product-led. Pricing in validation.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0">
                <a:solidFill>
                  <a:srgbClr val="A8ADBA"/>
                </a:solidFill>
                <a:latin typeface="Calibri"/>
              </a:rPr>
              <a:t>UniFact · unifact.ai · NJ AI Hub Accelerator Batch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3200" b="1">
                <a:solidFill>
                  <a:srgbClr val="F5F5F7"/>
                </a:solidFill>
                <a:latin typeface="Calibri"/>
              </a:rPr>
              <a:t>Why NJ AI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0">
                <a:solidFill>
                  <a:srgbClr val="A8ADBA"/>
                </a:solidFill>
                <a:latin typeface="Calibri"/>
              </a:rPr>
              <a:t>What we want from the accelerator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700" b="0">
                <a:solidFill>
                  <a:srgbClr val="F5F5F7"/>
                </a:solidFill>
                <a:latin typeface="Calibri"/>
              </a:rPr>
              <a:t>• Enterprise &amp; university pilots through Hub / Plug and Play network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700" b="0">
                <a:solidFill>
                  <a:srgbClr val="F5F5F7"/>
                </a:solidFill>
                <a:latin typeface="Calibri"/>
              </a:rPr>
              <a:t>• Mentorship on commercialization and ICP sharpening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700" b="0">
                <a:solidFill>
                  <a:srgbClr val="F5F5F7"/>
                </a:solidFill>
                <a:latin typeface="Calibri"/>
              </a:rPr>
              <a:t>• Visibility in NJ’s AI ecosystem (West Windsor coworking during program)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700" b="0">
                <a:solidFill>
                  <a:srgbClr val="F5F5F7"/>
                </a:solidFill>
                <a:latin typeface="Calibri"/>
              </a:rPr>
              <a:t>• Pathways to corporates who need trustworthy agent operations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572000"/>
            <a:ext cx="10881360" cy="1188720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754880"/>
            <a:ext cx="10424160" cy="8229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F5F5F7"/>
                </a:solidFill>
                <a:latin typeface="Calibri"/>
              </a:rPr>
              <a:t>Zero equity / no tied funding is a fit: we need distribution and pilots, not a pitched valuation.
In return: a live MVP in Future of Work / agent infrastructure, ready for design-partner pilots in Batch 2 (Sep–Dec 2026).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0">
                <a:solidFill>
                  <a:srgbClr val="A8ADBA"/>
                </a:solidFill>
                <a:latin typeface="Calibri"/>
              </a:rPr>
              <a:t>UniFact · unifact.ai · NJ AI Hub Accelerator Batch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3200" b="1">
                <a:solidFill>
                  <a:srgbClr val="F5F5F7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0">
                <a:solidFill>
                  <a:srgbClr val="A8ADBA"/>
                </a:solidFill>
                <a:latin typeface="Calibri"/>
              </a:rPr>
              <a:t>Next 12 months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520440" cy="2743200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301752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Now → 90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3017520" cy="13716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5F7"/>
                </a:solidFill>
                <a:latin typeface="Calibri"/>
              </a:rPr>
              <a:t>Close design partners; tighten onboarding; polish self-serve org creation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11680"/>
            <a:ext cx="3520440" cy="2743200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01752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6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017520"/>
            <a:ext cx="3017520" cy="13716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5F7"/>
                </a:solidFill>
                <a:latin typeface="Calibri"/>
              </a:rPr>
              <a:t>Multi-org patterns; stronger curator UX; pilot case studies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520440" cy="2743200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286000"/>
            <a:ext cx="301752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12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017520"/>
            <a:ext cx="3017520" cy="13716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5F7"/>
                </a:solidFill>
                <a:latin typeface="Calibri"/>
              </a:rPr>
              <a:t>Enterprise readiness (SSO beyond GitHub, compliance narratives); scale seats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20640"/>
            <a:ext cx="10972800" cy="6400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A8ADBA"/>
                </a:solidFill>
                <a:latin typeface="Calibri"/>
              </a:rPr>
              <a:t>Foundation in place: local SQLite working store + PostgreSQL origin registry; cloud-neutral upstream sync.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0">
                <a:solidFill>
                  <a:srgbClr val="A8ADBA"/>
                </a:solidFill>
                <a:latin typeface="Calibri"/>
              </a:rPr>
              <a:t>UniFact · unifact.ai · NJ AI Hub Accelerator Batch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3200" b="1">
                <a:solidFill>
                  <a:srgbClr val="F5F5F7"/>
                </a:solidFill>
                <a:latin typeface="Calibri"/>
              </a:rPr>
              <a:t>Team +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0">
                <a:solidFill>
                  <a:srgbClr val="A8ADBA"/>
                </a:solidFill>
                <a:latin typeface="Calibri"/>
              </a:rPr>
              <a:t>Admit UniFact to NJ AI Hub Accelerator Batch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212080" cy="2377440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475488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4754880" cy="13716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5F7"/>
                </a:solidFill>
                <a:latin typeface="Calibri"/>
              </a:rPr>
              <a:t>[FOUNDER NAME]
Founder · product &amp; platform
[Optional co-founder / advisor]
[ROLE]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83080"/>
            <a:ext cx="5394960" cy="2377440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65960"/>
            <a:ext cx="493776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The 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468880"/>
            <a:ext cx="4937760" cy="1463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F5F5F7"/>
                </a:solidFill>
                <a:latin typeface="Calibri"/>
              </a:rPr>
              <a:t>1. Win 2–3 design-partner pilots
2. Mentorship + corporate intros for agent-ops / Future of Work buyers
3. Ship commercialization milestones by Dec 2026 Expo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881360" cy="1234440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663440"/>
            <a:ext cx="10424160" cy="3200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1">
                <a:solidFill>
                  <a:srgbClr val="10B981"/>
                </a:solidFill>
                <a:latin typeface="Calibri"/>
              </a:rPr>
              <a:t>Contact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0"/>
            <a:ext cx="1042416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800" b="1">
                <a:solidFill>
                  <a:srgbClr val="F5F5F7"/>
                </a:solidFill>
                <a:latin typeface="Calibri"/>
              </a:rPr>
              <a:t>[EMAIL]  ·  https://unifact.ai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0">
                <a:solidFill>
                  <a:srgbClr val="A8ADBA"/>
                </a:solidFill>
                <a:latin typeface="Calibri"/>
              </a:rPr>
              <a:t>UniFact · unifact.ai · NJ AI Hub Accelerator Batch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3200" b="1">
                <a:solidFill>
                  <a:srgbClr val="F5F5F7"/>
                </a:solidFill>
                <a:latin typeface="Calibri"/>
              </a:rPr>
              <a:t>Appendix — competitive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0">
                <a:solidFill>
                  <a:srgbClr val="A8ADBA"/>
                </a:solidFill>
                <a:latin typeface="Calibri"/>
              </a:rPr>
              <a:t>Authority beats retrieval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822960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8"/>
            <a:ext cx="365760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1">
                <a:solidFill>
                  <a:srgbClr val="F5F5F7"/>
                </a:solidFill>
                <a:latin typeface="Calibri"/>
              </a:rPr>
              <a:t>Wikis / Notion / Confluence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947672"/>
            <a:ext cx="658368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A8ADBA"/>
                </a:solidFill>
                <a:latin typeface="Calibri"/>
              </a:rPr>
              <a:t>Human docs; agents don’t Fact Check a governed publish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97480"/>
            <a:ext cx="10881360" cy="822960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07208"/>
            <a:ext cx="365760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1">
                <a:solidFill>
                  <a:srgbClr val="F5F5F7"/>
                </a:solidFill>
                <a:latin typeface="Calibri"/>
              </a:rPr>
              <a:t>Vector RAG / “memory”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62072"/>
            <a:ext cx="658368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A8ADBA"/>
                </a:solidFill>
                <a:latin typeface="Calibri"/>
              </a:rPr>
              <a:t>Retrieval ≠ authority; weak review, supersede, audit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11880"/>
            <a:ext cx="10881360" cy="822960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21608"/>
            <a:ext cx="365760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1">
                <a:solidFill>
                  <a:srgbClr val="F5F5F7"/>
                </a:solidFill>
                <a:latin typeface="Calibri"/>
              </a:rPr>
              <a:t>Custom prompt stuffing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776472"/>
            <a:ext cx="658368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A8ADBA"/>
                </a:solidFill>
                <a:latin typeface="Calibri"/>
              </a:rPr>
              <a:t>Fragile, unshared across 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26280"/>
            <a:ext cx="10881360" cy="822960"/>
          </a:xfrm>
          <a:prstGeom prst="roundRect">
            <a:avLst>
              <a:gd name="adj" fmla="val 8000"/>
            </a:avLst>
          </a:prstGeom>
          <a:solidFill>
            <a:srgbClr val="141428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636008"/>
            <a:ext cx="365760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1">
                <a:solidFill>
                  <a:srgbClr val="10B981"/>
                </a:solidFill>
                <a:latin typeface="Calibri"/>
              </a:rPr>
              <a:t>UniFact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690872"/>
            <a:ext cx="658368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F5F5F7"/>
                </a:solidFill>
                <a:latin typeface="Calibri"/>
              </a:rPr>
              <a:t>Registry + lifecycle + MCP pull for universal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100" b="0">
                <a:solidFill>
                  <a:srgbClr val="A8ADBA"/>
                </a:solidFill>
                <a:latin typeface="Calibri"/>
              </a:rPr>
              <a:t>UniFact · unifact.ai · NJ AI Hub Accelerator Batch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